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Venture Creed – Propensity Modelling Case Study</a:t>
            </a:r>
          </a:p>
          <a:p>
            <a:r>
              <a:rPr sz="2600" b="1"/>
              <a:t>Final Analysis: Questions 1–6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Case Study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Objective: calculate a customer-level propensity-to-buy score using Propensity Data and SF Master.</a:t>
            </a:r>
          </a:p>
          <a:p>
            <a:r>
              <a:rPr sz="1500"/>
              <a:t>Final customer-level dataset: 3,680 customers.</a:t>
            </a:r>
          </a:p>
          <a:p>
            <a:endParaRPr sz="1500"/>
          </a:p>
          <a:p>
            <a:r>
              <a:rPr sz="1500"/>
              <a:t>Workflow: data cleaning → integration → target creation → feature selection → modelling → scoring → segmentation → quality validation.</a:t>
            </a:r>
          </a:p>
          <a:p>
            <a:endParaRPr sz="1500"/>
          </a:p>
          <a:p>
            <a:r>
              <a:rPr sz="1500"/>
              <a:t>Target definition used in this analysis: y = 1 represents a future completed purchase after the cutoff; y = 0 represents no future completed purchase.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Q1. Logic &amp; Algorithm for Propensity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Problem framed as binary classification.</a:t>
            </a:r>
          </a:p>
          <a:p>
            <a:r>
              <a:rPr sz="1400"/>
              <a:t>Target (y): future completed purchase after the defined cutoff date.</a:t>
            </a:r>
          </a:p>
          <a:p>
            <a:r>
              <a:rPr sz="1400"/>
              <a:t>Algorithm: Logistic Regression, used because it estimates the probability of the positive class.</a:t>
            </a:r>
          </a:p>
          <a:p>
            <a:r>
              <a:rPr sz="1400"/>
              <a:t>Categorical variables were encoded before modelling; numerical/categorical preprocessing was applied consistently.</a:t>
            </a:r>
          </a:p>
          <a:p>
            <a:r>
              <a:rPr sz="1400"/>
              <a:t>An 80/20 train-test split was used.</a:t>
            </a:r>
          </a:p>
          <a:p>
            <a:endParaRPr sz="1400"/>
          </a:p>
          <a:p>
            <a:r>
              <a:rPr sz="1400"/>
              <a:t>Propensity Score = P(y = 1 | customer features).</a:t>
            </a:r>
          </a:p>
          <a:p>
            <a:r>
              <a:rPr sz="1400"/>
              <a:t>The score is therefore an estimated probability between 0 and 1.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586202"/>
              </p:ext>
            </p:extLst>
          </p:nvPr>
        </p:nvGraphicFramePr>
        <p:xfrm>
          <a:off x="7498081" y="2558143"/>
          <a:ext cx="3749039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865">
                <a:tc>
                  <a:txBody>
                    <a:bodyPr/>
                    <a:lstStyle/>
                    <a:p>
                      <a:r>
                        <a:rPr sz="11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731">
                <a:tc>
                  <a:txBody>
                    <a:bodyPr/>
                    <a:lstStyle/>
                    <a:p>
                      <a:r>
                        <a:rPr sz="11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94.97%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731">
                <a:tc>
                  <a:txBody>
                    <a:bodyPr/>
                    <a:lstStyle/>
                    <a:p>
                      <a:r>
                        <a:rPr sz="11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731">
                <a:tc>
                  <a:txBody>
                    <a:bodyPr/>
                    <a:lstStyle/>
                    <a:p>
                      <a:r>
                        <a:rPr sz="11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731">
                <a:tc>
                  <a:txBody>
                    <a:bodyPr/>
                    <a:lstStyle/>
                    <a:p>
                      <a:r>
                        <a:rPr sz="110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731">
                <a:tc>
                  <a:txBody>
                    <a:bodyPr/>
                    <a:lstStyle/>
                    <a:p>
                      <a:r>
                        <a:rPr sz="1100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0.9866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Q1. Propensity Score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113562"/>
              </p:ext>
            </p:extLst>
          </p:nvPr>
        </p:nvGraphicFramePr>
        <p:xfrm>
          <a:off x="5151120" y="591094"/>
          <a:ext cx="6492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000"/>
                        <a:t>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3,680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calculated from model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Std. Dev.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calculated from model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calculated from model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25th Percentile (Q1)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0.0001626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calculated from model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75th Percentile (Q3)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0.1648688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000"/>
                        <a:t>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/>
                        <a:t>calculated from model 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94063" y="1301933"/>
            <a:ext cx="46786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1400" dirty="0"/>
              <a:t>All propensity scores are probabilities and therefore fall within the valid 0–1 range.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sz="1400" dirty="0"/>
          </a:p>
          <a:p>
            <a:pPr marL="342900" indent="-342900">
              <a:buFont typeface="+mj-lt"/>
              <a:buAutoNum type="arabicPeriod"/>
            </a:pPr>
            <a:r>
              <a:rPr sz="1400" dirty="0"/>
              <a:t>The score distribution is highly skewed, so empirical quartiles were used for customer segmentation.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endParaRPr sz="1400" dirty="0"/>
          </a:p>
          <a:p>
            <a:pPr marL="342900" indent="-342900">
              <a:buFont typeface="+mj-lt"/>
              <a:buAutoNum type="arabicPeriod"/>
            </a:pPr>
            <a:r>
              <a:rPr sz="1400" dirty="0"/>
              <a:t>The detailed statistical values are provided in the accompanying Excel workbook.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Q2. Feature-Selection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Feature selection combined business relevance, redundancy checks and statistical association with the target.</a:t>
            </a:r>
          </a:p>
          <a:p>
            <a:endParaRPr sz="1300"/>
          </a:p>
          <a:p>
            <a:r>
              <a:rPr sz="1300"/>
              <a:t>• Customer_ID was excluded because it is an identifier, not a predictive characteristic.</a:t>
            </a:r>
          </a:p>
          <a:p>
            <a:r>
              <a:rPr sz="1300"/>
              <a:t>• Postal_Code and Country were removed because they were not retained as useful modelling variables.</a:t>
            </a:r>
          </a:p>
          <a:p>
            <a:r>
              <a:rPr sz="1300"/>
              <a:t>• completion_rate was removed as a derived/redundant feature after reviewing the underlying order measures.</a:t>
            </a:r>
          </a:p>
          <a:p>
            <a:r>
              <a:rPr sz="1300"/>
              <a:t>• Highly correlated numerical variables were reviewed before finalising the feature set.</a:t>
            </a:r>
          </a:p>
          <a:p>
            <a:r>
              <a:rPr sz="1300"/>
              <a:t>• Categorical variables were investigated using Chi-square tests; statistical significance supported retaining relevant categorical predictors.</a:t>
            </a:r>
          </a:p>
          <a:p>
            <a:r>
              <a:rPr sz="1300"/>
              <a:t>• Target and post-outcome information were excluded to reduce leakage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Q2. Feature Treatment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r>
                        <a:rPr sz="90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Reason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Identifier; no predictive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Postal_Code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Not retained as a modelling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Not retained as a modelling feature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completion_rate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Derived/redundant with order measures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Highly correlated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Avoid unnecessary redundancy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Categorical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Keep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Chi-square association with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900"/>
                        <a:t>Historical order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Keep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Relevant pre-outcome behaviour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Q3. High / Medium / Low Propensity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Arbitrary cutoffs such as 0.33/0.66 were not used.</a:t>
            </a:r>
          </a:p>
          <a:p>
            <a:r>
              <a:rPr sz="1400"/>
              <a:t>Empirical quartiles were used because the propensity-score distribution is highly skewed.</a:t>
            </a:r>
          </a:p>
          <a:p>
            <a:endParaRPr sz="1400"/>
          </a:p>
          <a:p>
            <a:r>
              <a:rPr sz="1400"/>
              <a:t>Low: score ≤ Q1</a:t>
            </a:r>
          </a:p>
          <a:p>
            <a:r>
              <a:rPr sz="1400"/>
              <a:t>Medium: Q1 &lt; score ≤ Q3</a:t>
            </a:r>
          </a:p>
          <a:p>
            <a:r>
              <a:rPr sz="1400"/>
              <a:t>High: score &gt; Q3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0" y="3657600"/>
          <a:ext cx="71323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00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Score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≤ 0.0001626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0.0001626 – 0.1648688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&gt; 0.1648688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0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Q4. EDA &amp;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EDA covered descriptive statistics, missing-value patterns, categorical distributions, numerical distributions, order activity and correlations.</a:t>
            </a:r>
          </a:p>
          <a:p>
            <a:endParaRPr sz="1300"/>
          </a:p>
          <a:p>
            <a:r>
              <a:rPr sz="1300"/>
              <a:t>Outlier detection used the Interquartile Range (IQR) method:</a:t>
            </a:r>
          </a:p>
          <a:p>
            <a:r>
              <a:rPr sz="1300"/>
              <a:t>IQR = Q3 − Q1</a:t>
            </a:r>
          </a:p>
          <a:p>
            <a:r>
              <a:rPr sz="1300"/>
              <a:t>Lower Bound = Q1 − 1.5 × IQR</a:t>
            </a:r>
          </a:p>
          <a:p>
            <a:r>
              <a:rPr sz="1300"/>
              <a:t>Upper Bound = Q3 + 1.5 × IQR</a:t>
            </a:r>
          </a:p>
          <a:p>
            <a:endParaRPr sz="1300"/>
          </a:p>
          <a:p>
            <a:r>
              <a:rPr sz="1300"/>
              <a:t>For total_orders among customers with order history, 43 values were flagged as potential outliers (3.94%).</a:t>
            </a:r>
          </a:p>
          <a:p>
            <a:r>
              <a:rPr sz="1300"/>
              <a:t>These were investigated as potential high-volume/bulk-order customers rather than automatically deleted.</a:t>
            </a:r>
          </a:p>
          <a:p>
            <a:r>
              <a:rPr sz="1300"/>
              <a:t>Treatment therefore considered both statistical evidence and business validity.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Q5. Data Quality Issues Identified &amp; Treatment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18872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r>
                        <a:rPr sz="800"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Treatment / Handling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rPr sz="800"/>
                        <a:t>Customer-level duplicates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0 duplicate Customer IDs after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rPr sz="800"/>
                        <a:t>SF Master 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548 duplicates identified in working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Removed during cleaning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rPr sz="800"/>
                        <a:t>Missing segment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Missing values found in several categorical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Handled by field meaning / Unknown where appropriate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rPr sz="800"/>
                        <a:t>item_quantity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Missing values identified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Imputed using appropriate numerical 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r>
                        <a:rPr sz="800"/>
                        <a:t>Category inconsistencies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None/Unknown-style values and category variants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Standardised while preserving business 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r>
                        <a:rPr sz="800"/>
                        <a:t>Order 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Missing where no order history exists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Handled without inventing 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Q6. Exhaustive Quality-Check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Dataset: row/column counts, data types, duplicate rows and duplicate Customer_IDs.</a:t>
            </a:r>
          </a:p>
          <a:p>
            <a:r>
              <a:rPr sz="1300"/>
              <a:t>Missingness: counts and percentages before and after preprocessing.</a:t>
            </a:r>
          </a:p>
          <a:p>
            <a:r>
              <a:rPr sz="1300"/>
              <a:t>Consistency: valid categorical values, dates, quantities and Customer IDs.</a:t>
            </a:r>
          </a:p>
          <a:p>
            <a:r>
              <a:rPr sz="1300"/>
              <a:t>Integration: customer counts before/after merge, unmatched customers, duplicates and aggregation correctness.</a:t>
            </a:r>
          </a:p>
          <a:p>
            <a:r>
              <a:rPr sz="1300"/>
              <a:t>Target: binary values, missing target, class distribution and target-definition validation.</a:t>
            </a:r>
          </a:p>
          <a:p>
            <a:r>
              <a:rPr sz="1300"/>
              <a:t>Model: train/test separation, preprocessing consistency and target-leakage review.</a:t>
            </a:r>
          </a:p>
          <a:p>
            <a:r>
              <a:rPr sz="1300"/>
              <a:t>Scores: every customer scored, no missing scores, all scores between 0 and 1.</a:t>
            </a:r>
          </a:p>
          <a:p>
            <a:r>
              <a:rPr sz="1300"/>
              <a:t>Segments: correct thresholds, no missing segments and segment totals equal customer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Final Validation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194560" y="960120"/>
          <a:ext cx="78638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r>
                        <a:rPr sz="900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Total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3,680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Duplicate Customer 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Missing propensity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Missing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Missing propensity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Minimum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0–1 valid probability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Maximum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0–1 valid probability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Low / Medium /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920 / 1,840 / 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r>
                        <a:rPr sz="900"/>
                        <a:t>Final segmentation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3,680 /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3,680 customers were assigned propensity scores using a Logistic Regression model.</a:t>
            </a:r>
          </a:p>
          <a:p>
            <a:endParaRPr sz="1300"/>
          </a:p>
          <a:p>
            <a:r>
              <a:rPr sz="1300"/>
              <a:t>The model achieved 94.97% accuracy and 0.9866 ROC-AUC on the test set.</a:t>
            </a:r>
          </a:p>
          <a:p>
            <a:endParaRPr sz="1300"/>
          </a:p>
          <a:p>
            <a:r>
              <a:rPr sz="1300"/>
              <a:t>Quartile-based segmentation produced:</a:t>
            </a:r>
          </a:p>
          <a:p>
            <a:r>
              <a:rPr sz="1300"/>
              <a:t>• 920 Low propensity customers (25%)</a:t>
            </a:r>
          </a:p>
          <a:p>
            <a:r>
              <a:rPr sz="1300"/>
              <a:t>• 1,840 Medium propensity customers (50%)</a:t>
            </a:r>
          </a:p>
          <a:p>
            <a:r>
              <a:rPr sz="1300"/>
              <a:t>• 920 High propensity customers (25%)</a:t>
            </a:r>
          </a:p>
          <a:p>
            <a:endParaRPr sz="1300"/>
          </a:p>
          <a:p>
            <a:r>
              <a:rPr sz="1300"/>
              <a:t>Outlier analysis identified 43 high-order observations; these were retained after business review because they may represent genuine bulk-order behaviour.</a:t>
            </a:r>
          </a:p>
          <a:p>
            <a:endParaRPr sz="1300"/>
          </a:p>
          <a:p>
            <a:r>
              <a:rPr sz="1300"/>
              <a:t>The solution was validated through dataset, missingness, integration, target, model, score and segmentation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1014</Words>
  <Application>Microsoft Office PowerPoint</Application>
  <PresentationFormat>Widescreen</PresentationFormat>
  <Paragraphs>203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Shetty</cp:lastModifiedBy>
  <cp:revision>2</cp:revision>
  <dcterms:created xsi:type="dcterms:W3CDTF">2013-01-27T09:14:16Z</dcterms:created>
  <dcterms:modified xsi:type="dcterms:W3CDTF">2026-09-24T09:11:45Z</dcterms:modified>
  <cp:category/>
</cp:coreProperties>
</file>